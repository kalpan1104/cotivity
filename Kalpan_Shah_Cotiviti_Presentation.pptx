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223760" y="-1005840"/>
            <a:ext cx="3840480" cy="3840480"/>
          </a:xfrm>
          <a:prstGeom prst="ellipse">
            <a:avLst/>
          </a:prstGeom>
          <a:solidFill>
            <a:srgbClr val="028090">
              <a:alpha val="25882"/>
            </a:srgbClr>
          </a:solidFill>
          <a:ln cap="flat" cmpd="sng" w="12700">
            <a:solidFill>
              <a:srgbClr val="02809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046720" y="-365760"/>
            <a:ext cx="2103120" cy="2103120"/>
          </a:xfrm>
          <a:prstGeom prst="ellipse">
            <a:avLst/>
          </a:prstGeom>
          <a:solidFill>
            <a:srgbClr val="02C39A">
              <a:alpha val="20000"/>
            </a:srgbClr>
          </a:solidFill>
          <a:ln cap="flat" cmpd="sng" w="12700">
            <a:solidFill>
              <a:srgbClr val="02C39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365760" y="3931920"/>
            <a:ext cx="2377440" cy="2377440"/>
          </a:xfrm>
          <a:prstGeom prst="ellipse">
            <a:avLst/>
          </a:prstGeom>
          <a:solidFill>
            <a:srgbClr val="2E75B6">
              <a:alpha val="18039"/>
            </a:srgbClr>
          </a:solidFill>
          <a:ln cap="flat" cmpd="sng" w="12700">
            <a:solidFill>
              <a:srgbClr val="2E75B6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66928" y="777240"/>
            <a:ext cx="777240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Confidence-Aware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Medical Diagnostic System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66928" y="26974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F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D4F0"/>
                </a:solidFill>
                <a:latin typeface="Calibri"/>
                <a:ea typeface="Calibri"/>
                <a:cs typeface="Calibri"/>
                <a:sym typeface="Calibri"/>
              </a:rPr>
              <a:t>Fine-tuning Llama-3.2-3B on DDXPlus for safety-stratified clinical triage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6928" y="3255264"/>
            <a:ext cx="1920240" cy="457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66928" y="3419856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AD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FBAD3"/>
                </a:solidFill>
                <a:latin typeface="Calibri"/>
                <a:ea typeface="Calibri"/>
                <a:cs typeface="Calibri"/>
                <a:sym typeface="Calibri"/>
              </a:rPr>
              <a:t>Kalpan Shah  ·  Northeastern University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6928" y="382219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8A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8AA8"/>
                </a:solidFill>
                <a:latin typeface="Calibri"/>
                <a:ea typeface="Calibri"/>
                <a:cs typeface="Calibri"/>
                <a:sym typeface="Calibri"/>
              </a:rPr>
              <a:t>Cotiviti Intern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5720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Clinical NLP Landscape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768096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832104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80% of healthcare data is unstructured. The question is always: can we make machines read it as well as clinicians do?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01752" y="1298448"/>
            <a:ext cx="2688336" cy="3547872"/>
          </a:xfrm>
          <a:prstGeom prst="roundRect">
            <a:avLst>
              <a:gd fmla="val 2381" name="adj"/>
            </a:avLst>
          </a:prstGeom>
          <a:solidFill>
            <a:srgbClr val="F4F8FB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01752" y="1298448"/>
            <a:ext cx="2688336" cy="512064"/>
          </a:xfrm>
          <a:prstGeom prst="roundRect">
            <a:avLst>
              <a:gd fmla="val 12500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01752" y="1316736"/>
            <a:ext cx="2688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1990s – 2000s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01752" y="1536192"/>
            <a:ext cx="26883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Rule-Based NLP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38912" y="1920240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cTAKES, MedLEE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38912" y="2532888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Hand-written grammars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8912" y="3145536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Medical ontology-driven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8912" y="3758184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Brittle to variation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27832" y="1298448"/>
            <a:ext cx="2688336" cy="3547872"/>
          </a:xfrm>
          <a:prstGeom prst="roundRect">
            <a:avLst>
              <a:gd fmla="val 2381" name="adj"/>
            </a:avLst>
          </a:prstGeom>
          <a:solidFill>
            <a:srgbClr val="F4F8FB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27832" y="1298448"/>
            <a:ext cx="2688336" cy="512064"/>
          </a:xfrm>
          <a:prstGeom prst="roundRect">
            <a:avLst>
              <a:gd fmla="val 12500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227832" y="1316736"/>
            <a:ext cx="2688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27832" y="1536192"/>
            <a:ext cx="26883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 NLP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364992" y="1920240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BioBERT, ClinicalBERT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364992" y="2532888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Learned from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364992" y="3145536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NER and relation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364992" y="3758184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Domain-adapted transformers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153912" y="1298448"/>
            <a:ext cx="2688336" cy="3547872"/>
          </a:xfrm>
          <a:prstGeom prst="roundRect">
            <a:avLst>
              <a:gd fmla="val 2381" name="adj"/>
            </a:avLst>
          </a:prstGeom>
          <a:solidFill>
            <a:srgbClr val="F4F8FB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153912" y="1298448"/>
            <a:ext cx="2688336" cy="512064"/>
          </a:xfrm>
          <a:prstGeom prst="roundRect">
            <a:avLst>
              <a:gd fmla="val 12500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153912" y="1316736"/>
            <a:ext cx="2688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2020s – Present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153912" y="1536192"/>
            <a:ext cx="26883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291072" y="1920240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Llama 3, GPT-4, Med-PaLM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291072" y="2532888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Fine-tuning via LoRA / PEFT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291072" y="3145536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Near-physician 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291072" y="3758184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Agentic + multimodal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47548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This project: fine-tuned Llama-3.2-3B (foundation model era) on 1.3M clinical cases — and evaluated the result rigorously.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45720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 Statement &amp;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768096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57200" y="832104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 a fine-tuned LLM safely triage patients — diagnosing when it should, referring when it shouldn't?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47472" y="1188720"/>
            <a:ext cx="4160520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98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1024128" y="1243584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LLMs Hallucinate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24128" y="1554480"/>
            <a:ext cx="33375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models produce confident wrong answers. In a clinical context that's not just an accuracy problem — it's a liability.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47472" y="2395728"/>
            <a:ext cx="4160520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5054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1024128" y="2450592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Dark Clinical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24128" y="2761488"/>
            <a:ext cx="33375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Structured claims capture what was billed. Clinical notes capture what actually happened. Most pipelines only see the former.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47472" y="3602736"/>
            <a:ext cx="4160520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7124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1024128" y="3657600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Safety Can't Live in the Prompt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24128" y="3968496"/>
            <a:ext cx="33375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Telling a model to refer uncertain cases in its system prompt is only as reliable as the model's ability to follow instructions.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54880" y="1188720"/>
            <a:ext cx="4069080" cy="3858768"/>
          </a:xfrm>
          <a:prstGeom prst="roundRect">
            <a:avLst>
              <a:gd fmla="val 2370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754880" y="1261872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DDXPlus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754880" y="162763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BD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BBDD"/>
                </a:solidFill>
                <a:latin typeface="Calibri"/>
                <a:ea typeface="Calibri"/>
                <a:cs typeface="Calibri"/>
                <a:sym typeface="Calibri"/>
              </a:rPr>
              <a:t>NeurIPS 2022  ·  aai530-group6/ddxplus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919472" y="1993392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1.3M+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46520" y="203911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Synthetic patient cases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919472" y="2651760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46520" y="26974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Disease pathologies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919472" y="3310128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50,000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46520" y="335584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Test cases evaluated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919472" y="3968496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446520" y="4014216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Symptoms decoded per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45720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768096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57200" y="832104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separate jobs. The model diagnoses. The code enforces safety. Neither trusts the other to do the other's job.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56032" y="1325880"/>
            <a:ext cx="1828800" cy="1508760"/>
          </a:xfrm>
          <a:prstGeom prst="roundRect">
            <a:avLst>
              <a:gd fmla="val 4242" name="adj"/>
            </a:avLst>
          </a:prstGeom>
          <a:solidFill>
            <a:srgbClr val="F4F8FB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256032" y="1481328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DDXPlus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56032" y="2112264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1.3M+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49 diseases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331720" y="1325880"/>
            <a:ext cx="2148840" cy="1508760"/>
          </a:xfrm>
          <a:prstGeom prst="roundRect">
            <a:avLst>
              <a:gd fmla="val 4242" name="adj"/>
            </a:avLst>
          </a:prstGeom>
          <a:solidFill>
            <a:srgbClr val="F4F8FB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331720" y="1481328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Symptom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331720" y="2112264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Evidence codes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readable 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709160" y="960120"/>
            <a:ext cx="2423160" cy="2240280"/>
          </a:xfrm>
          <a:prstGeom prst="roundRect">
            <a:avLst>
              <a:gd fmla="val 2857" name="adj"/>
            </a:avLst>
          </a:prstGeom>
          <a:solidFill>
            <a:srgbClr val="1F4E79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709160" y="1115568"/>
            <a:ext cx="2423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Llama-3.2-3B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(fine-tuned)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709160" y="1746504"/>
            <a:ext cx="2423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B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BBDD"/>
                </a:solidFill>
                <a:latin typeface="Calibri"/>
                <a:ea typeface="Calibri"/>
                <a:cs typeface="Calibri"/>
                <a:sym typeface="Calibri"/>
              </a:rPr>
              <a:t>Top-3 predictions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B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BBDD"/>
                </a:solidFill>
                <a:latin typeface="Calibri"/>
                <a:ea typeface="Calibri"/>
                <a:cs typeface="Calibri"/>
                <a:sym typeface="Calibri"/>
              </a:rPr>
              <a:t>+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406640" y="1325880"/>
            <a:ext cx="1508760" cy="1508760"/>
          </a:xfrm>
          <a:prstGeom prst="roundRect">
            <a:avLst>
              <a:gd fmla="val 4242" name="adj"/>
            </a:avLst>
          </a:prstGeom>
          <a:solidFill>
            <a:srgbClr val="F4F8FB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406640" y="1481328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406640" y="211226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Severe?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 &lt; 2/N?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6"/>
          <p:cNvCxnSpPr/>
          <p:nvPr/>
        </p:nvCxnSpPr>
        <p:spPr>
          <a:xfrm>
            <a:off x="2084832" y="2075688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6"/>
          <p:cNvCxnSpPr/>
          <p:nvPr/>
        </p:nvCxnSpPr>
        <p:spPr>
          <a:xfrm>
            <a:off x="4480560" y="2075688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6"/>
          <p:cNvCxnSpPr/>
          <p:nvPr/>
        </p:nvCxnSpPr>
        <p:spPr>
          <a:xfrm>
            <a:off x="7132320" y="2075688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6"/>
          <p:cNvSpPr/>
          <p:nvPr/>
        </p:nvSpPr>
        <p:spPr>
          <a:xfrm>
            <a:off x="365760" y="3364992"/>
            <a:ext cx="3931920" cy="749808"/>
          </a:xfrm>
          <a:prstGeom prst="roundRect">
            <a:avLst>
              <a:gd fmla="val 853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65760" y="340156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Diagnosis + Confidence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65760" y="374904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DD"/>
                </a:solidFill>
                <a:latin typeface="Calibri"/>
                <a:ea typeface="Calibri"/>
                <a:cs typeface="Calibri"/>
                <a:sym typeface="Calibri"/>
              </a:rPr>
              <a:t>Both rules pass → show result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663440" y="3364992"/>
            <a:ext cx="3931920" cy="749808"/>
          </a:xfrm>
          <a:prstGeom prst="roundRect">
            <a:avLst>
              <a:gd fmla="val 8537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663440" y="340156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 to Specialist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663440" y="374904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DD"/>
                </a:solidFill>
                <a:latin typeface="Calibri"/>
                <a:ea typeface="Calibri"/>
                <a:cs typeface="Calibri"/>
                <a:sym typeface="Calibri"/>
              </a:rPr>
              <a:t>Severe OR below confidence threshold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4251960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model's only job is prediction. Safety is guaranteed by the code — not by asking the model nicely.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45720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Four-Phase Experimental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768096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7200" y="832104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phase isolates one variable so we can measure what actually moves the needle.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47472" y="960120"/>
            <a:ext cx="8458200" cy="896112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47472" y="960120"/>
            <a:ext cx="1325880" cy="896112"/>
          </a:xfrm>
          <a:prstGeom prst="roundRect">
            <a:avLst>
              <a:gd fmla="val 7143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47472" y="1161288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828800" y="101498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Raw Baseline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828800" y="143560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Model: Untrained Llama-3.2-3B  ·  Safety: 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812280" y="105156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41.8%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812280" y="153619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n=1,000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47472" y="1965960"/>
            <a:ext cx="8458200" cy="896112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47472" y="1965960"/>
            <a:ext cx="1325880" cy="896112"/>
          </a:xfrm>
          <a:prstGeom prst="roundRect">
            <a:avLst>
              <a:gd fmla="val 7143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347472" y="2167128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828800" y="202082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Baseline + Prompt Safety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828800" y="24414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Model: Untrained Llama-3.2-3B  ·  Safety: Rules in system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812280" y="205740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35.4%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812280" y="25420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n=1,000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47472" y="2971800"/>
            <a:ext cx="8458200" cy="896112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47472" y="2971800"/>
            <a:ext cx="1325880" cy="896112"/>
          </a:xfrm>
          <a:prstGeom prst="roundRect">
            <a:avLst>
              <a:gd fmla="val 7143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47472" y="3172968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828800" y="302666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Fine-Tuned + Prompt Safety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828800" y="344728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Model: LoRA fine-tuned Llama  ·  Safety: Rules in system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812280" y="306324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49.8%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812280" y="354787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n=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47472" y="3977640"/>
            <a:ext cx="8458200" cy="896112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347472" y="3977640"/>
            <a:ext cx="1325880" cy="896112"/>
          </a:xfrm>
          <a:prstGeom prst="roundRect">
            <a:avLst>
              <a:gd fmla="val 714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47472" y="4178808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828800" y="403250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Fine-Tuned + Code Safety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828800" y="445312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Model: LoRA fine-tuned Llama  ·  Safety: Deterministic code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812280" y="406908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69.1%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812280" y="455371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n=50,000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45720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Fine-Tuning with LoRA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57200" y="768096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57200" y="832104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Adapting a 3-billion-parameter model to a clinical task — without a data center.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47472" y="960120"/>
            <a:ext cx="4160520" cy="3840480"/>
          </a:xfrm>
          <a:prstGeom prst="roundRect">
            <a:avLst>
              <a:gd fmla="val 1667" name="adj"/>
            </a:avLst>
          </a:prstGeom>
          <a:solidFill>
            <a:srgbClr val="F4F8FB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02920" y="10241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How LoRA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02920" y="144475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Instead of retraining all parameters, LoRA injects small trainable matrices (A and B) into each attention layer of the frozen base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02920" y="208483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Only ~0.1–1% of parameters are ever updated — the rest stay exactly as Meta released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02920" y="272491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rank r controls how expressive the adaptation is. Higher rank = more capacity, more compute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" y="336499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result is a small LoRA adapter file that can be merged into the base model or swapped at runtime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02920" y="400507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Practical outcome: you can fine-tune Llama-3.2-3B on a single GPU in a few hours, not weeks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773168" y="960120"/>
            <a:ext cx="4041648" cy="3840480"/>
          </a:xfrm>
          <a:prstGeom prst="roundRect">
            <a:avLst>
              <a:gd fmla="val 1667" name="adj"/>
            </a:avLst>
          </a:prstGeom>
          <a:solidFill>
            <a:srgbClr val="1F4E79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773168" y="1033272"/>
            <a:ext cx="4041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Training Setup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919472" y="15087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00800" y="15087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Llama-3.2-3B-Instruct (Meta)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919472" y="20574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400800" y="20574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LoRA / PEFT — HuggingFace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919472" y="26060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400800" y="26060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DDXPlus train split (1.3M cases)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919472" y="31546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400800" y="31546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PyTorch + Transformers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919472" y="370332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400800" y="3703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50,000 held-out DDXPlus cases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919472" y="42519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400800" y="42519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Strict Pass@1 (safety-weighted)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45720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Decision Layer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768096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57200" y="832104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rules that run after every model response. The model has no say in whether they trigger.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47472" y="960120"/>
            <a:ext cx="4069080" cy="2176272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347472" y="960120"/>
            <a:ext cx="4069080" cy="457200"/>
          </a:xfrm>
          <a:prstGeom prst="roundRect">
            <a:avLst>
              <a:gd fmla="val 14000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47472" y="987552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1 — Severe Disease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" y="1499616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22 life-threatening conditions always trigger specialist referral — regardless of confidence: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12064" y="1975104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NSTEMI / STEMI  ·  Pulmonary embolism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12064" y="2258568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Anaphylaxis  ·  Tuberculosis  ·  Ebola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12064" y="2542032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Pulmonary neoplasm  ·  Guillain-Barré  ·  SLE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12064" y="2825496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Spontaneous pneumothorax  ·  Myocarditis  +10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727448" y="960120"/>
            <a:ext cx="4069080" cy="2176272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727448" y="960120"/>
            <a:ext cx="4069080" cy="457200"/>
          </a:xfrm>
          <a:prstGeom prst="roundRect">
            <a:avLst>
              <a:gd fmla="val 14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727448" y="987552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2 — Dynamic Threshold (2/N)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846320" y="1499616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Confidence must be ≥ 2× random chance to proceed.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bar scales with case complexity — not fixed.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882896" y="224028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options  →  Threshold 50.0%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882896" y="251460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options  →  Threshold 25.0%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882896" y="278892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options  →  Threshold 15.4%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882896" y="306324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33 options  →  Threshold  6.1%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47472" y="3255264"/>
            <a:ext cx="8458200" cy="1691640"/>
          </a:xfrm>
          <a:prstGeom prst="roundRect">
            <a:avLst>
              <a:gd fmla="val 3784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02920" y="332841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What happened across 50,000 test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66928" y="36576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20,195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66928" y="4133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Severe cases referred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40.4% of all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688336" y="36576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2,710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688336" y="4133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Low-conf referred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5.4% of all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809744" y="36576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17,061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809744" y="4133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Directly diagnosed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34.1% of all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931152" y="36576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931152" y="4133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Precision on diagnosed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45720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57200" y="768096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57200" y="832104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69.1% Pass@1 across 50,000 cases — and 100% precision when the system chose to diagnose directly.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960120"/>
            <a:ext cx="4480560" cy="30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960120"/>
            <a:ext cx="38404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347472" y="4096512"/>
            <a:ext cx="1938528" cy="969264"/>
          </a:xfrm>
          <a:prstGeom prst="roundRect">
            <a:avLst>
              <a:gd fmla="val 6604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47472" y="4133088"/>
            <a:ext cx="19385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69.1%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47472" y="4636008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Pass@1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560320" y="4096512"/>
            <a:ext cx="1938528" cy="969264"/>
          </a:xfrm>
          <a:prstGeom prst="roundRect">
            <a:avLst>
              <a:gd fmla="val 6604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2560320" y="4133088"/>
            <a:ext cx="19385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2560320" y="4636008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Precision — direct dx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773168" y="4096512"/>
            <a:ext cx="1938528" cy="969264"/>
          </a:xfrm>
          <a:prstGeom prst="roundRect">
            <a:avLst>
              <a:gd fmla="val 6604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773168" y="4133088"/>
            <a:ext cx="19385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+27.3pp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773168" y="4636008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vs. Phase 1a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986016" y="4096512"/>
            <a:ext cx="1938528" cy="969264"/>
          </a:xfrm>
          <a:prstGeom prst="roundRect">
            <a:avLst>
              <a:gd fmla="val 6604" name="adj"/>
            </a:avLst>
          </a:prstGeom>
          <a:solidFill>
            <a:srgbClr val="FFFFFF"/>
          </a:solidFill>
          <a:ln cap="flat" cmpd="sng" w="12700">
            <a:solidFill>
              <a:srgbClr val="E8F0F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986016" y="4133088"/>
            <a:ext cx="19385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50K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986016" y="4636008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cases evaluated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